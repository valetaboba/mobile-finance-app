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365" r:id="rId2"/>
    <p:sldId id="366" r:id="rId3"/>
    <p:sldId id="362" r:id="rId4"/>
    <p:sldId id="364" r:id="rId5"/>
    <p:sldId id="375" r:id="rId6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83" autoAdjust="0"/>
    <p:restoredTop sz="95839"/>
  </p:normalViewPr>
  <p:slideViewPr>
    <p:cSldViewPr snapToGrid="0" showGuides="1">
      <p:cViewPr varScale="1">
        <p:scale>
          <a:sx n="82" d="100"/>
          <a:sy n="82" d="100"/>
        </p:scale>
        <p:origin x="643" y="77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29.09.2026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29.09.2026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29.09.2026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29.09.2026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sz="4800" dirty="0" smtClean="0"/>
              <a:t>ООО «</a:t>
            </a:r>
            <a:r>
              <a:rPr lang="ru-RU" sz="4800" dirty="0" err="1" smtClean="0"/>
              <a:t>Софтина</a:t>
            </a:r>
            <a:r>
              <a:rPr lang="ru-RU" sz="4800" dirty="0" smtClean="0"/>
              <a:t>»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rPr lang="ru-RU" dirty="0" smtClean="0"/>
              <a:t>Задача 6: мобильное </a:t>
            </a:r>
            <a:r>
              <a:rPr lang="ru-RU" dirty="0"/>
              <a:t>приложение по повышению финансовой грамотности детей и молодежи Москвы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7" name="Image 3" descr=" ">
            <a:extLst>
              <a:ext uri="{FF2B5EF4-FFF2-40B4-BE49-F238E27FC236}">
                <a16:creationId xmlns:a16="http://schemas.microsoft.com/office/drawing/2014/main" id="{EF4A2930-2613-57D6-B11F-1382104B7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85" y="374360"/>
            <a:ext cx="1149344" cy="50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 smtClean="0">
                <a:solidFill>
                  <a:schemeClr val="tx1"/>
                </a:solidFill>
              </a:rPr>
              <a:t>Никто ранее не делал игр по повышению финансовой грамотности в стиле визуальных новелл в российской действительности.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 err="1" smtClean="0">
                <a:solidFill>
                  <a:schemeClr val="tx1"/>
                </a:solidFill>
              </a:rPr>
              <a:t>Кашинцев</a:t>
            </a:r>
            <a:r>
              <a:rPr lang="ru-RU" dirty="0" smtClean="0">
                <a:solidFill>
                  <a:schemeClr val="tx1"/>
                </a:solidFill>
              </a:rPr>
              <a:t> Владислав Вадимович, 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 smtClean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4</a:t>
            </a:r>
            <a:r>
              <a:rPr lang="ru-RU" dirty="0" smtClean="0">
                <a:solidFill>
                  <a:schemeClr val="tx1"/>
                </a:solidFill>
              </a:rPr>
              <a:t> человек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 smtClean="0">
                <a:solidFill>
                  <a:schemeClr val="tx1"/>
                </a:solidFill>
              </a:rPr>
              <a:t>Краткое </a:t>
            </a:r>
            <a:r>
              <a:rPr lang="ru-RU" b="1" dirty="0">
                <a:solidFill>
                  <a:schemeClr val="tx1"/>
                </a:solidFill>
              </a:rPr>
              <a:t>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 smtClean="0">
                <a:solidFill>
                  <a:schemeClr val="tx1"/>
                </a:solidFill>
              </a:rPr>
              <a:t>Команда образовалась из выпускников 2025-2026 года Радиофизического факультета ННГУ им. Н.И. Лобачевского</a:t>
            </a:r>
            <a:endParaRPr lang="ru-RU" i="1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ru-RU" i="1" dirty="0" smtClean="0">
                <a:solidFill>
                  <a:schemeClr val="tx1"/>
                </a:solidFill>
              </a:rPr>
              <a:t>ИПФ РАН, АО НПП Салют, </a:t>
            </a:r>
            <a:r>
              <a:rPr lang="ru-RU" dirty="0">
                <a:solidFill>
                  <a:schemeClr val="tx1"/>
                </a:solidFill>
              </a:rPr>
              <a:t>ЦНИИ «Буревестник</a:t>
            </a:r>
            <a:r>
              <a:rPr lang="ru-RU" dirty="0" smtClean="0">
                <a:solidFill>
                  <a:schemeClr val="tx1"/>
                </a:solidFill>
              </a:rPr>
              <a:t>»</a:t>
            </a:r>
            <a:endParaRPr lang="ru-RU" i="1" dirty="0">
              <a:solidFill>
                <a:schemeClr val="tx1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</a:t>
            </a:r>
            <a:r>
              <a:rPr lang="ru-RU" b="1" dirty="0" smtClean="0">
                <a:solidFill>
                  <a:schemeClr val="tx1"/>
                </a:solidFill>
              </a:rPr>
              <a:t>: г. Нижний Новгород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ru-RU" sz="2400" dirty="0" smtClean="0">
                <a:solidFill>
                  <a:schemeClr val="accent5"/>
                </a:solidFill>
                <a:latin typeface="+mn-lt"/>
              </a:rPr>
              <a:t>ООО «</a:t>
            </a:r>
            <a:r>
              <a:rPr lang="ru-RU" sz="2400" dirty="0" err="1" smtClean="0">
                <a:solidFill>
                  <a:schemeClr val="accent5"/>
                </a:solidFill>
                <a:latin typeface="+mn-lt"/>
              </a:rPr>
              <a:t>Софтина</a:t>
            </a:r>
            <a:r>
              <a:rPr lang="ru-RU" sz="2400" dirty="0" smtClean="0">
                <a:solidFill>
                  <a:schemeClr val="accent5"/>
                </a:solidFill>
                <a:latin typeface="+mn-lt"/>
              </a:rPr>
              <a:t>»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Визуальная новелла + симулятор жизни. Играйте за подростка, который делает первые шаги во взрослую жизнь: знакомится с банком, планирует расходы, общается с друзьями и родителями. Каждое решение влияет на сюжет и на ваши деньги.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chemeClr val="tx1"/>
                </a:solidFill>
              </a:rPr>
              <a:t>Сценарист, </a:t>
            </a:r>
            <a:r>
              <a:rPr lang="en-US" sz="1200" dirty="0" smtClean="0">
                <a:solidFill>
                  <a:schemeClr val="tx1"/>
                </a:solidFill>
              </a:rPr>
              <a:t>frontend </a:t>
            </a:r>
            <a:r>
              <a:rPr lang="ru-RU" sz="1200" dirty="0" smtClean="0">
                <a:solidFill>
                  <a:schemeClr val="tx1"/>
                </a:solidFill>
              </a:rPr>
              <a:t>разработчик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1"/>
                </a:solidFill>
              </a:rPr>
              <a:t>@</a:t>
            </a:r>
            <a:r>
              <a:rPr lang="en-US" sz="1200" dirty="0" err="1" smtClean="0">
                <a:solidFill>
                  <a:schemeClr val="tx1"/>
                </a:solidFill>
              </a:rPr>
              <a:t>Kashintseva_al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1"/>
                </a:solidFill>
              </a:rPr>
              <a:t>89159313536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chemeClr val="tx1"/>
                </a:solidFill>
              </a:rPr>
              <a:t>АО НПП «Салют»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 smtClean="0">
                <a:solidFill>
                  <a:schemeClr val="accent5"/>
                </a:solidFill>
              </a:rPr>
              <a:t>Алла </a:t>
            </a:r>
            <a:r>
              <a:rPr lang="ru-RU" sz="1600" b="1" dirty="0" err="1" smtClean="0">
                <a:solidFill>
                  <a:schemeClr val="accent5"/>
                </a:solidFill>
              </a:rPr>
              <a:t>Кашинцева</a:t>
            </a:r>
            <a:endParaRPr lang="ru-RU" sz="1600" b="1" dirty="0">
              <a:solidFill>
                <a:schemeClr val="accent5"/>
              </a:solidFill>
            </a:endParaRP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 err="1" smtClean="0">
                <a:solidFill>
                  <a:schemeClr val="tx1"/>
                </a:solidFill>
              </a:rPr>
              <a:t>Fullstack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ru-RU" sz="1200" dirty="0" smtClean="0">
                <a:solidFill>
                  <a:schemeClr val="tx1"/>
                </a:solidFill>
              </a:rPr>
              <a:t>разработчик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1"/>
                </a:solidFill>
              </a:rPr>
              <a:t>@</a:t>
            </a:r>
            <a:r>
              <a:rPr lang="en-US" sz="1200" dirty="0" err="1" smtClean="0">
                <a:solidFill>
                  <a:schemeClr val="tx1"/>
                </a:solidFill>
              </a:rPr>
              <a:t>konstancii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chemeClr val="tx1"/>
                </a:solidFill>
              </a:rPr>
              <a:t>89092879752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ИПФ РАН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 smtClean="0">
                <a:solidFill>
                  <a:schemeClr val="accent5"/>
                </a:solidFill>
              </a:rPr>
              <a:t>Константин Корнев</a:t>
            </a:r>
            <a:endParaRPr lang="ru-RU" sz="1600" b="1" dirty="0">
              <a:solidFill>
                <a:schemeClr val="accent5"/>
              </a:solidFill>
            </a:endParaRP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8513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chemeClr val="tx1"/>
                </a:solidFill>
              </a:rPr>
              <a:t>Художник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1"/>
                </a:solidFill>
              </a:rPr>
              <a:t>@</a:t>
            </a:r>
            <a:r>
              <a:rPr lang="en-US" sz="1200" dirty="0" err="1" smtClean="0">
                <a:solidFill>
                  <a:schemeClr val="tx1"/>
                </a:solidFill>
              </a:rPr>
              <a:t>Jammyiums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1"/>
                </a:solidFill>
              </a:rPr>
              <a:t>89030583348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chemeClr val="tx1"/>
                </a:solidFill>
              </a:rPr>
              <a:t>ЦНИИ «Буревестник»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 smtClean="0">
                <a:solidFill>
                  <a:schemeClr val="accent5"/>
                </a:solidFill>
              </a:rPr>
              <a:t>Яна Березина</a:t>
            </a:r>
            <a:endParaRPr lang="ru-RU" sz="1600" b="1" dirty="0">
              <a:solidFill>
                <a:schemeClr val="accent5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 lang="ru-RU" dirty="0" smtClean="0">
                <a:latin typeface="+mn-lt"/>
              </a:rPr>
              <a:t>ООО «</a:t>
            </a:r>
            <a:r>
              <a:rPr lang="ru-RU" dirty="0" err="1" smtClean="0">
                <a:latin typeface="+mn-lt"/>
              </a:rPr>
              <a:t>Софтина</a:t>
            </a:r>
            <a:r>
              <a:rPr lang="ru-RU" dirty="0" smtClean="0">
                <a:latin typeface="+mn-lt"/>
              </a:rPr>
              <a:t>»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chemeClr val="tx1"/>
                </a:solidFill>
              </a:rPr>
              <a:t>Капитан команды, </a:t>
            </a:r>
            <a:r>
              <a:rPr lang="en-US" sz="1200" dirty="0" err="1" smtClean="0">
                <a:solidFill>
                  <a:schemeClr val="tx1"/>
                </a:solidFill>
              </a:rPr>
              <a:t>fullstack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ru-RU" sz="1200" dirty="0" smtClean="0">
                <a:solidFill>
                  <a:schemeClr val="tx1"/>
                </a:solidFill>
              </a:rPr>
              <a:t>разработчик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1"/>
                </a:solidFill>
              </a:rPr>
              <a:t>@</a:t>
            </a:r>
            <a:r>
              <a:rPr lang="en-US" sz="1200" dirty="0" err="1" smtClean="0">
                <a:solidFill>
                  <a:schemeClr val="tx1"/>
                </a:solidFill>
              </a:rPr>
              <a:t>Valetisgetto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1"/>
                </a:solidFill>
              </a:rPr>
              <a:t>89018701088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chemeClr val="tx1"/>
                </a:solidFill>
              </a:rPr>
              <a:t>ИПФ РАН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 smtClean="0">
                <a:solidFill>
                  <a:schemeClr val="accent5"/>
                </a:solidFill>
              </a:rPr>
              <a:t>Владислав </a:t>
            </a:r>
            <a:r>
              <a:rPr lang="ru-RU" sz="1600" b="1" dirty="0" err="1" smtClean="0">
                <a:solidFill>
                  <a:schemeClr val="accent5"/>
                </a:solidFill>
              </a:rPr>
              <a:t>Кашинцев</a:t>
            </a:r>
            <a:endParaRPr lang="ru-RU" sz="16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 lang="ru-RU" dirty="0" smtClean="0">
                <a:latin typeface="+mn-lt"/>
              </a:rPr>
              <a:t>ООО «</a:t>
            </a:r>
            <a:r>
              <a:rPr lang="ru-RU" dirty="0" err="1" smtClean="0">
                <a:latin typeface="+mn-lt"/>
              </a:rPr>
              <a:t>Софтина</a:t>
            </a:r>
            <a:r>
              <a:rPr lang="ru-RU" dirty="0" smtClean="0">
                <a:latin typeface="+mn-lt"/>
              </a:rPr>
              <a:t>»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chemeClr val="tx1"/>
                </a:solidFill>
              </a:rPr>
              <a:t>Команда образовалась из выпускников 2025-2026 года Радиофизического факультета ННГУ им. Н.И. </a:t>
            </a:r>
            <a:r>
              <a:rPr lang="ru-RU" dirty="0" smtClean="0">
                <a:solidFill>
                  <a:schemeClr val="tx1"/>
                </a:solidFill>
              </a:rPr>
              <a:t>Лобачевского. 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 smtClean="0">
                <a:solidFill>
                  <a:schemeClr val="tx1"/>
                </a:solidFill>
              </a:rPr>
              <a:t>Мы не ожидали, что возраст предполагаемой целевой аудитории – дети 7-11 лет. С этим была связана сложность в формулировках и в ограниченности списка тем, так как в этом возрасте многие экономические вопросы сложны в понимании.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 smtClean="0">
                <a:solidFill>
                  <a:schemeClr val="tx1"/>
                </a:solidFill>
              </a:rPr>
              <a:t>Было интересно опробовать свои силы в разработке мобильного приложения. Также было интересно применить свои знания в области финансов.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dirty="0" err="1">
                <a:solidFill>
                  <a:schemeClr val="tx1"/>
                </a:solidFill>
              </a:rPr>
              <a:t>Нативное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ru-RU" sz="1400" dirty="0" err="1">
                <a:solidFill>
                  <a:schemeClr val="tx1"/>
                </a:solidFill>
              </a:rPr>
              <a:t>Android</a:t>
            </a:r>
            <a:r>
              <a:rPr lang="ru-RU" sz="1400" dirty="0">
                <a:solidFill>
                  <a:schemeClr val="tx1"/>
                </a:solidFill>
              </a:rPr>
              <a:t>-приложение на </a:t>
            </a:r>
            <a:r>
              <a:rPr lang="ru-RU" sz="1400" dirty="0" err="1">
                <a:solidFill>
                  <a:schemeClr val="tx1"/>
                </a:solidFill>
              </a:rPr>
              <a:t>Kotlin</a:t>
            </a:r>
            <a:r>
              <a:rPr lang="ru-RU" sz="1400" dirty="0">
                <a:solidFill>
                  <a:schemeClr val="tx1"/>
                </a:solidFill>
              </a:rPr>
              <a:t> с использованием </a:t>
            </a:r>
            <a:r>
              <a:rPr lang="ru-RU" sz="1400" dirty="0" err="1">
                <a:solidFill>
                  <a:schemeClr val="tx1"/>
                </a:solidFill>
              </a:rPr>
              <a:t>Jetpack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ru-RU" sz="1400" dirty="0" err="1">
                <a:solidFill>
                  <a:schemeClr val="tx1"/>
                </a:solidFill>
              </a:rPr>
              <a:t>Compose</a:t>
            </a:r>
            <a:r>
              <a:rPr lang="ru-RU" sz="1400" dirty="0">
                <a:solidFill>
                  <a:schemeClr val="tx1"/>
                </a:solidFill>
              </a:rPr>
              <a:t>. Оно представляет собой сюжетную визуальную новеллу, в которой игрок знакомится с базовыми экономическими терминами и инструментами, потенциально полезными в повседневной жизни. Поскольку целевая аудитория — дети младшего возраста, мы сознательно не стали перегружать игру сложными темами, хотя нам есть что рассказать ещё. Чтобы удерживать внимание игрока, в игру добавлены пиксельные мини-игры.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Мы хотим дать ребёнку возможность применить реальные финансовые знания в свою пользу — при этом полностью обезопасив его от любых рисков. В игре он не просто узнаёт, что такое деньги и как ими распоряжаться, а учится принимать решения, которые в реальной жизни приносят выгоду: планировать расходы, откладывать на цель, выбирать между сиюминутным желанием и долгосрочной </a:t>
            </a:r>
            <a:r>
              <a:rPr lang="ru-RU" sz="1400" dirty="0" smtClean="0">
                <a:solidFill>
                  <a:schemeClr val="tx1"/>
                </a:solidFill>
              </a:rPr>
              <a:t>перспективой. </a:t>
            </a:r>
            <a:r>
              <a:rPr lang="ru-RU" sz="1400" dirty="0">
                <a:solidFill>
                  <a:schemeClr val="tx1"/>
                </a:solidFill>
              </a:rPr>
              <a:t>В будущем мы планируем расширить игру более сложными финансовыми инструментами, которые помогут ребёнку не только сохранить, но и приумножить свои накопления. Среди них — налоговый вычет, инвестиционные продукты и другие темы, которые обычно кажутся взрослыми и недоступными, но при правильной подаче становятся понятными даже школьнику. 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11073</TotalTime>
  <Words>480</Words>
  <Application>Microsoft Office PowerPoint</Application>
  <PresentationFormat>Широкоэкранный</PresentationFormat>
  <Paragraphs>56</Paragraphs>
  <Slides>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Amatic SC</vt:lpstr>
      <vt:lpstr>Arial</vt:lpstr>
      <vt:lpstr>Calibri</vt:lpstr>
      <vt:lpstr>Montserrat</vt:lpstr>
      <vt:lpstr>Wingdings</vt:lpstr>
      <vt:lpstr>Для Академия инноваторов 16_9</vt:lpstr>
      <vt:lpstr>ООО «Софтина»</vt:lpstr>
      <vt:lpstr>ООО «Софтина»</vt:lpstr>
      <vt:lpstr>ООО «Софтина»</vt:lpstr>
      <vt:lpstr>ООО «Софтина»</vt:lpstr>
      <vt:lpstr>КОРОТКО О РЕШЕНИИ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MyPC</cp:lastModifiedBy>
  <cp:revision>101</cp:revision>
  <dcterms:created xsi:type="dcterms:W3CDTF">2023-05-15T07:36:23Z</dcterms:created>
  <dcterms:modified xsi:type="dcterms:W3CDTF">2026-09-29T18:51:24Z</dcterms:modified>
</cp:coreProperties>
</file>